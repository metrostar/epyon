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9" r:id="rId3"/>
  </p:sldIdLst>
  <p:sldSz cx="9144000" cy="5143500" type="screen16x9"/>
  <p:notesSz cx="6858000" cy="9144000"/>
  <p:embeddedFontLst>
    <p:embeddedFont>
      <p:font typeface="Proxima Nova" panose="02000506030000020004" pitchFamily="2" charset="0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F231810-603B-42DC-A1FB-B13F982EDDB9}">
  <a:tblStyle styleId="{4F231810-603B-42DC-A1FB-B13F982EDDB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ea61eb6cc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ea61eb6cc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7103B532-8D38-11C6-05F0-AE1A3A36C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>
            <a:extLst>
              <a:ext uri="{FF2B5EF4-FFF2-40B4-BE49-F238E27FC236}">
                <a16:creationId xmlns:a16="http://schemas.microsoft.com/office/drawing/2014/main" id="{CB0347EF-544B-2438-D925-BCABA0AB83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>
            <a:extLst>
              <a:ext uri="{FF2B5EF4-FFF2-40B4-BE49-F238E27FC236}">
                <a16:creationId xmlns:a16="http://schemas.microsoft.com/office/drawing/2014/main" id="{1A7E5BB3-CFB1-D99C-6492-622BE90530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5970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990"/>
            </a:pPr>
            <a:r>
              <a:rPr lang="en" sz="2420" dirty="0" err="1"/>
              <a:t>Epyon</a:t>
            </a:r>
            <a:r>
              <a:rPr lang="en" sz="2420" dirty="0"/>
              <a:t> - </a:t>
            </a:r>
            <a:r>
              <a:rPr lang="en-US" sz="1800" dirty="0"/>
              <a:t>Comprehensive </a:t>
            </a:r>
            <a:r>
              <a:rPr lang="en-US" sz="1800" dirty="0" err="1"/>
              <a:t>DevSecOps</a:t>
            </a:r>
            <a:r>
              <a:rPr lang="en-US" sz="1800" dirty="0"/>
              <a:t> security architecture</a:t>
            </a:r>
            <a:br>
              <a:rPr lang="en-US" dirty="0"/>
            </a:br>
            <a:endParaRPr sz="242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b="1" dirty="0" err="1"/>
              <a:t>Epyon</a:t>
            </a:r>
            <a:r>
              <a:rPr lang="en-US" b="1" dirty="0"/>
              <a:t> is an opinionated </a:t>
            </a:r>
            <a:r>
              <a:rPr lang="en-US" b="1" dirty="0" err="1"/>
              <a:t>DevSecOps</a:t>
            </a:r>
            <a:r>
              <a:rPr lang="en-US" b="1" dirty="0"/>
              <a:t> orchestration framework that centralizes and automates security scanning across the software delivery lifecycle.</a:t>
            </a:r>
            <a:endParaRPr lang="en-US" dirty="0"/>
          </a:p>
          <a:p>
            <a:r>
              <a:rPr lang="en-US" dirty="0"/>
              <a:t>It provides a unified way to run, manage, and standardize multiple security and quality tools—helping teams embed security early, enforce consistency, and gain clear visibility into risks without slowing delivery.</a:t>
            </a:r>
          </a:p>
          <a:p>
            <a:r>
              <a:rPr lang="en-US" dirty="0"/>
              <a:t>Built for modern CI/CD pipelines, </a:t>
            </a:r>
            <a:r>
              <a:rPr lang="en-US" dirty="0" err="1"/>
              <a:t>Epyon</a:t>
            </a:r>
            <a:r>
              <a:rPr lang="en-US" dirty="0"/>
              <a:t> enables repeatable, scalable security checks for code, containers, and infrastructure, making it easier for DevOps and SecOps teams to work from a shared, automated security foundation.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FF55AE01-5C1B-EC0F-E24B-E7BB4E4A7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" name="Google Shape;66;p15">
            <a:extLst>
              <a:ext uri="{FF2B5EF4-FFF2-40B4-BE49-F238E27FC236}">
                <a16:creationId xmlns:a16="http://schemas.microsoft.com/office/drawing/2014/main" id="{ED60D519-7B44-13F2-EECD-EF5646A338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9494510"/>
              </p:ext>
            </p:extLst>
          </p:nvPr>
        </p:nvGraphicFramePr>
        <p:xfrm>
          <a:off x="232525" y="1190250"/>
          <a:ext cx="8540325" cy="3677735"/>
        </p:xfrm>
        <a:graphic>
          <a:graphicData uri="http://schemas.openxmlformats.org/drawingml/2006/table">
            <a:tbl>
              <a:tblPr>
                <a:noFill/>
                <a:tableStyleId>{4F231810-603B-42DC-A1FB-B13F982EDDB9}</a:tableStyleId>
              </a:tblPr>
              <a:tblGrid>
                <a:gridCol w="67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2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6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3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4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45700" marR="45700" marT="18275" marB="18275"/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0000"/>
                          </a:solidFill>
                        </a:rPr>
                        <a:t>Now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L="45700" marR="45700" marT="18275" marB="1827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0000"/>
                          </a:solidFill>
                        </a:rPr>
                        <a:t>Near</a:t>
                      </a:r>
                      <a:endParaRPr sz="1200">
                        <a:solidFill>
                          <a:srgbClr val="00000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45700" marR="45700" marT="18275" marB="1827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0000"/>
                          </a:solidFill>
                        </a:rPr>
                        <a:t>Far future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L="45700" marR="45700" marT="18275" marB="18275">
                    <a:solidFill>
                      <a:srgbClr val="F1C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Waypoint</a:t>
                      </a:r>
                      <a:endParaRPr sz="800"/>
                    </a:p>
                  </a:txBody>
                  <a:tcPr marL="45700" marR="45700" marT="18275" marB="1827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L="45700" marR="45700" marT="18275" marB="182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/>
                        <a:t>2</a:t>
                      </a:r>
                      <a:endParaRPr sz="800"/>
                    </a:p>
                  </a:txBody>
                  <a:tcPr marL="45700" marR="45700" marT="18275" marB="182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/>
                        <a:t>3</a:t>
                      </a:r>
                      <a:endParaRPr sz="800"/>
                    </a:p>
                  </a:txBody>
                  <a:tcPr marL="45700" marR="45700" marT="18275" marB="182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/>
                        <a:t>4</a:t>
                      </a:r>
                      <a:endParaRPr sz="800"/>
                    </a:p>
                  </a:txBody>
                  <a:tcPr marL="45700" marR="45700" marT="18275" marB="182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/>
                        <a:t>5</a:t>
                      </a:r>
                      <a:endParaRPr sz="800"/>
                    </a:p>
                  </a:txBody>
                  <a:tcPr marL="45700" marR="45700" marT="18275" marB="182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/>
                        <a:t>X, Y, ...</a:t>
                      </a:r>
                      <a:endParaRPr sz="800"/>
                    </a:p>
                  </a:txBody>
                  <a:tcPr marL="45700" marR="45700" marT="18275" marB="182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800"/>
                        <a:t>Desired Outcomes</a:t>
                      </a:r>
                      <a:endParaRPr sz="800"/>
                    </a:p>
                  </a:txBody>
                  <a:tcPr marL="45700" marR="45700" marT="18275" marB="182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STIG and Compliance automation</a:t>
                      </a:r>
                      <a:endParaRPr lang="en-US" sz="1000" dirty="0"/>
                    </a:p>
                  </a:txBody>
                  <a:tcPr marL="45700" marR="45700" marT="18275" marB="18275"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AI/ML Security Scanning</a:t>
                      </a:r>
                    </a:p>
                  </a:txBody>
                  <a:tcPr marL="45700" marR="45700" marT="18275" marB="1827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/>
                        <a:t>Webapp</a:t>
                      </a:r>
                    </a:p>
                  </a:txBody>
                  <a:tcPr marL="45700" marR="45700" marT="18275" marB="1827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Security implementations</a:t>
                      </a:r>
                    </a:p>
                  </a:txBody>
                  <a:tcPr marL="45700" marR="45700" marT="18275" marB="1827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/>
                        <a:t>Widly used as DEVSECOPS pipeline orchestrator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/>
                    </a:p>
                  </a:txBody>
                  <a:tcPr marL="45700" marR="45700" marT="18275" marB="1827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/>
                        <a:t>AI enabled report and mitigations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/>
                    </a:p>
                  </a:txBody>
                  <a:tcPr marL="45700" marR="45700" marT="18275" marB="182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8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800"/>
                        <a:t>Key Challenges to Overcome</a:t>
                      </a:r>
                      <a:br>
                        <a:rPr lang="en" sz="800"/>
                      </a:br>
                      <a:r>
                        <a:rPr lang="en" sz="800"/>
                        <a:t>(Barriers)</a:t>
                      </a:r>
                      <a:endParaRPr sz="800"/>
                    </a:p>
                  </a:txBody>
                  <a:tcPr marL="45700" marR="45700" marT="18275" marB="1827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STIG Checks against code bases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Run times will likely increase due to the complexity of checking STIG’s</a:t>
                      </a:r>
                    </a:p>
                  </a:txBody>
                  <a:tcPr marL="45700" marR="45700" marT="18275" marB="18275"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No ML model vulnerability detection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Missing AI supply chain security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Lack of LLM-specific threat scanning</a:t>
                      </a:r>
                    </a:p>
                  </a:txBody>
                  <a:tcPr marL="45700" marR="45700" marT="18275" marB="1827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Launching GitHub actions to private repo’s requires additional access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Proof of concept works locally</a:t>
                      </a:r>
                    </a:p>
                  </a:txBody>
                  <a:tcPr marL="45700" marR="45700" marT="18275" marB="1827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STIG and RMF review of the tool</a:t>
                      </a:r>
                      <a:endParaRPr lang="en-US" sz="1000" dirty="0"/>
                    </a:p>
                  </a:txBody>
                  <a:tcPr marL="45700" marR="45700" marT="18275" marB="1827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/>
                        <a:t>Does this tool meet the needs for individual teams that do not have a proper pipeline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/>
                    </a:p>
                  </a:txBody>
                  <a:tcPr marL="45700" marR="45700" marT="18275" marB="1827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How might we incorporate AI tools to enable users to mitigate vulnerabilities</a:t>
                      </a:r>
                      <a:endParaRPr sz="1000" dirty="0"/>
                    </a:p>
                  </a:txBody>
                  <a:tcPr marL="45700" marR="45700" marT="18275" marB="182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800" dirty="0"/>
                        <a:t>Success Metrics</a:t>
                      </a:r>
                      <a:endParaRPr sz="800" dirty="0"/>
                    </a:p>
                  </a:txBody>
                  <a:tcPr marL="45700" marR="45700" marT="18275" marB="182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dirty="0"/>
                        <a:t>Reduce threat landscape of application by assisting teams know what STIG’s need to be applied</a:t>
                      </a:r>
                    </a:p>
                  </a:txBody>
                  <a:tcPr marL="45700" marR="45700" marT="18275" marB="182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Comprehensive AI/ML security coverage with model scanning, prompt injection detection, and AI compliance validation</a:t>
                      </a:r>
                    </a:p>
                  </a:txBody>
                  <a:tcPr marL="45700" marR="45700" marT="18275" marB="1827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Users can log into a web accessible application and get the same information on their application as running </a:t>
                      </a:r>
                      <a:r>
                        <a:rPr lang="en-US" sz="900" dirty="0" err="1"/>
                        <a:t>Epyon</a:t>
                      </a:r>
                      <a:r>
                        <a:rPr lang="en-US" sz="900" dirty="0"/>
                        <a:t> in GitHub Actions</a:t>
                      </a:r>
                    </a:p>
                  </a:txBody>
                  <a:tcPr marL="45700" marR="45700" marT="18275" marB="1827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Complete STIG/RMF documentation for Epyon</a:t>
                      </a:r>
                      <a:endParaRPr lang="en-US" sz="1000" dirty="0"/>
                    </a:p>
                  </a:txBody>
                  <a:tcPr marL="45700" marR="45700" marT="18275" marB="1827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/>
                        <a:t>Utilized by 10 or more app teams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/>
                    </a:p>
                  </a:txBody>
                  <a:tcPr marL="45700" marR="45700" marT="18275" marB="1827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/>
                        <a:t>AI Enabled producing mitigations for vulnerabilities</a:t>
                      </a:r>
                    </a:p>
                  </a:txBody>
                  <a:tcPr marL="45700" marR="45700" marT="18275" marB="182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800"/>
                        <a:t>Features</a:t>
                      </a:r>
                      <a:endParaRPr sz="800"/>
                    </a:p>
                  </a:txBody>
                  <a:tcPr marL="45700" marR="45700" marT="18275" marB="182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Automated STIG and Compliance checking reports</a:t>
                      </a:r>
                    </a:p>
                  </a:txBody>
                  <a:tcPr marL="45700" marR="45700" marT="18275" marB="182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Integration of Garak, </a:t>
                      </a:r>
                      <a:r>
                        <a:rPr lang="en-US" sz="9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MLSec</a:t>
                      </a: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US" sz="9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ModelScan</a:t>
                      </a: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ART</a:t>
                      </a:r>
                    </a:p>
                  </a:txBody>
                  <a:tcPr marL="45700" marR="45700" marT="18275" marB="1827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Full web application</a:t>
                      </a:r>
                    </a:p>
                  </a:txBody>
                  <a:tcPr marL="45700" marR="45700" marT="18275" marB="1827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STIGS/RMF/POA&amp;M</a:t>
                      </a:r>
                    </a:p>
                  </a:txBody>
                  <a:tcPr marL="45700" marR="45700" marT="18275" marB="1827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/>
                    </a:p>
                  </a:txBody>
                  <a:tcPr marL="45700" marR="45700" marT="18275" marB="1827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800" dirty="0"/>
                        <a:t>Integration of MIDAS to provide code remediations</a:t>
                      </a:r>
                      <a:endParaRPr sz="800" dirty="0"/>
                    </a:p>
                  </a:txBody>
                  <a:tcPr marL="45700" marR="45700" marT="18275" marB="182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1DF8C7FF-A8B8-B1A7-6D97-0B8139B0722D}"/>
              </a:ext>
            </a:extLst>
          </p:cNvPr>
          <p:cNvSpPr txBox="1"/>
          <p:nvPr/>
        </p:nvSpPr>
        <p:spPr>
          <a:xfrm>
            <a:off x="232526" y="699263"/>
            <a:ext cx="5991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Level of Certainty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68" name="Google Shape;68;p15">
            <a:extLst>
              <a:ext uri="{FF2B5EF4-FFF2-40B4-BE49-F238E27FC236}">
                <a16:creationId xmlns:a16="http://schemas.microsoft.com/office/drawing/2014/main" id="{943EC84F-5890-85C2-9D00-FAFF4F9FA4D9}"/>
              </a:ext>
            </a:extLst>
          </p:cNvPr>
          <p:cNvGrpSpPr/>
          <p:nvPr/>
        </p:nvGrpSpPr>
        <p:grpSpPr>
          <a:xfrm>
            <a:off x="804750" y="672250"/>
            <a:ext cx="7598654" cy="451201"/>
            <a:chOff x="1563800" y="889694"/>
            <a:chExt cx="7178700" cy="438102"/>
          </a:xfrm>
        </p:grpSpPr>
        <p:sp>
          <p:nvSpPr>
            <p:cNvPr id="69" name="Google Shape;69;p15">
              <a:extLst>
                <a:ext uri="{FF2B5EF4-FFF2-40B4-BE49-F238E27FC236}">
                  <a16:creationId xmlns:a16="http://schemas.microsoft.com/office/drawing/2014/main" id="{2C86C8D9-99DA-7F82-D15E-F0C3D90D6C74}"/>
                </a:ext>
              </a:extLst>
            </p:cNvPr>
            <p:cNvSpPr/>
            <p:nvPr/>
          </p:nvSpPr>
          <p:spPr>
            <a:xfrm>
              <a:off x="1563800" y="933650"/>
              <a:ext cx="7178700" cy="353100"/>
            </a:xfrm>
            <a:prstGeom prst="rtTriangle">
              <a:avLst/>
            </a:prstGeom>
            <a:solidFill>
              <a:srgbClr val="EEEEEE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70" name="Google Shape;70;p15">
              <a:extLst>
                <a:ext uri="{FF2B5EF4-FFF2-40B4-BE49-F238E27FC236}">
                  <a16:creationId xmlns:a16="http://schemas.microsoft.com/office/drawing/2014/main" id="{7DFA4BCD-FF56-1DC3-50D2-E48E1A52E3C0}"/>
                </a:ext>
              </a:extLst>
            </p:cNvPr>
            <p:cNvSpPr txBox="1"/>
            <p:nvPr/>
          </p:nvSpPr>
          <p:spPr>
            <a:xfrm>
              <a:off x="1626943" y="932096"/>
              <a:ext cx="1219800" cy="3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High</a:t>
              </a:r>
              <a:endParaRPr sz="8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71" name="Google Shape;71;p15">
              <a:extLst>
                <a:ext uri="{FF2B5EF4-FFF2-40B4-BE49-F238E27FC236}">
                  <a16:creationId xmlns:a16="http://schemas.microsoft.com/office/drawing/2014/main" id="{AF39ECA4-D554-4D25-B4BF-CFA2CB8D66EE}"/>
                </a:ext>
              </a:extLst>
            </p:cNvPr>
            <p:cNvSpPr txBox="1"/>
            <p:nvPr/>
          </p:nvSpPr>
          <p:spPr>
            <a:xfrm>
              <a:off x="7570555" y="889694"/>
              <a:ext cx="1171800" cy="3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Low</a:t>
              </a:r>
              <a:endParaRPr sz="8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A451A4AB-1292-6E76-9C63-392801A4F7ED}"/>
              </a:ext>
            </a:extLst>
          </p:cNvPr>
          <p:cNvSpPr txBox="1"/>
          <p:nvPr/>
        </p:nvSpPr>
        <p:spPr>
          <a:xfrm>
            <a:off x="192475" y="151275"/>
            <a:ext cx="60831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 err="1">
                <a:latin typeface="Proxima Nova"/>
                <a:ea typeface="Proxima Nova"/>
                <a:cs typeface="Proxima Nova"/>
                <a:sym typeface="Proxima Nova"/>
              </a:rPr>
              <a:t>Epyon</a:t>
            </a:r>
            <a:r>
              <a:rPr lang="en" sz="2500" b="1" dirty="0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2500" b="1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Outcome-Oriented Roadmap</a:t>
            </a:r>
            <a:endParaRPr sz="2500" b="1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A322B4BB-E2BC-C50C-667A-26E9C9A2CEB6}"/>
              </a:ext>
            </a:extLst>
          </p:cNvPr>
          <p:cNvSpPr txBox="1"/>
          <p:nvPr/>
        </p:nvSpPr>
        <p:spPr>
          <a:xfrm>
            <a:off x="7366750" y="4698200"/>
            <a:ext cx="1406100" cy="286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As of [date]</a:t>
            </a:r>
            <a:endParaRPr sz="10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E5920656-095D-640F-6F9E-0C63EADD5026}"/>
              </a:ext>
            </a:extLst>
          </p:cNvPr>
          <p:cNvSpPr txBox="1"/>
          <p:nvPr/>
        </p:nvSpPr>
        <p:spPr>
          <a:xfrm>
            <a:off x="7853800" y="259775"/>
            <a:ext cx="4987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116308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6862</TotalTime>
  <Words>356</Words>
  <Application>Microsoft Macintosh PowerPoint</Application>
  <PresentationFormat>On-screen Show (16:9)</PresentationFormat>
  <Paragraphs>51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Proxima Nova</vt:lpstr>
      <vt:lpstr>Simple Light</vt:lpstr>
      <vt:lpstr>Epyon - Comprehensive DevSecOps security architecture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Ronnie Nelson</cp:lastModifiedBy>
  <cp:revision>3</cp:revision>
  <dcterms:modified xsi:type="dcterms:W3CDTF">2026-03-08T15:14:14Z</dcterms:modified>
</cp:coreProperties>
</file>